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6"/>
  </p:notesMasterIdLst>
  <p:sldIdLst>
    <p:sldId id="283" r:id="rId2"/>
    <p:sldId id="257" r:id="rId3"/>
    <p:sldId id="282" r:id="rId4"/>
    <p:sldId id="285" r:id="rId5"/>
    <p:sldId id="278" r:id="rId6"/>
    <p:sldId id="293" r:id="rId7"/>
    <p:sldId id="297" r:id="rId8"/>
    <p:sldId id="298" r:id="rId9"/>
    <p:sldId id="299" r:id="rId10"/>
    <p:sldId id="300" r:id="rId11"/>
    <p:sldId id="295" r:id="rId12"/>
    <p:sldId id="296" r:id="rId13"/>
    <p:sldId id="281" r:id="rId14"/>
    <p:sldId id="264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277" r:id="rId26"/>
    <p:sldId id="286" r:id="rId27"/>
    <p:sldId id="287" r:id="rId28"/>
    <p:sldId id="280" r:id="rId29"/>
    <p:sldId id="288" r:id="rId30"/>
    <p:sldId id="290" r:id="rId31"/>
    <p:sldId id="291" r:id="rId32"/>
    <p:sldId id="289" r:id="rId33"/>
    <p:sldId id="292" r:id="rId34"/>
    <p:sldId id="276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wann30/IBM_PROJEC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hyperlink" Target="https://ibmpersonagent-gamma.vercel.app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wann30/IBM_PROJEC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</a:t>
            </a:r>
            <a:r>
              <a:rPr lang="en-US" b="1" i="1" err="1"/>
              <a:t>LangFlow</a:t>
            </a:r>
            <a:r>
              <a:rPr lang="en-US" b="1" i="1"/>
              <a:t>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547797388"/>
              </p:ext>
            </p:extLst>
          </p:nvPr>
        </p:nvGraphicFramePr>
        <p:xfrm>
          <a:off x="1206162" y="3846810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PAWAN RAJ PRAJAPATI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pawan3072003@gmail.com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8077003682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EDUCATION</a:t>
            </a:r>
          </a:p>
          <a:p>
            <a:endParaRPr lang="en-IN" sz="2400" b="1" dirty="0">
              <a:highlight>
                <a:srgbClr val="FFFF00"/>
              </a:highlight>
            </a:endParaRPr>
          </a:p>
          <a:p>
            <a:r>
              <a:rPr lang="en-IN" sz="1600" dirty="0" err="1">
                <a:highlight>
                  <a:srgbClr val="FFFF00"/>
                </a:highlight>
              </a:rPr>
              <a:t>Github</a:t>
            </a:r>
            <a:r>
              <a:rPr lang="en-IN" sz="1600" dirty="0">
                <a:highlight>
                  <a:srgbClr val="FFFF00"/>
                </a:highlight>
              </a:rPr>
              <a:t> link – </a:t>
            </a:r>
            <a:r>
              <a:rPr lang="en-IN" sz="1600" dirty="0">
                <a:hlinkClick r:id="rId3"/>
              </a:rPr>
              <a:t>https://github.com/Pawann30/IBM_PROJECT</a:t>
            </a:r>
            <a:endParaRPr lang="en-IN" sz="1600" dirty="0"/>
          </a:p>
          <a:p>
            <a:r>
              <a:rPr lang="en-IN" sz="1600" dirty="0">
                <a:highlight>
                  <a:srgbClr val="FFFF00"/>
                </a:highlight>
              </a:rPr>
              <a:t>Live link -  </a:t>
            </a:r>
            <a:r>
              <a:rPr lang="en-IN" sz="1600" dirty="0">
                <a:hlinkClick r:id="rId4"/>
              </a:rPr>
              <a:t>https://ibmpersonagent-gamma.vercel.app/</a:t>
            </a:r>
            <a:endParaRPr lang="en-IN" sz="1600" dirty="0"/>
          </a:p>
          <a:p>
            <a:r>
              <a:rPr lang="en-US" sz="1600" dirty="0">
                <a:solidFill>
                  <a:srgbClr val="2B354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Pptx – link -   </a:t>
            </a:r>
            <a:r>
              <a:rPr lang="en-IN" sz="1600" dirty="0"/>
              <a:t>https://github.com/Rajatpundir7/IBM-PERSONAL_AGENT/RajatPundir_Project_ppt.pptx</a:t>
            </a:r>
            <a:endParaRPr lang="en-IN" sz="1600" dirty="0">
              <a:highlight>
                <a:srgbClr val="FFFF00"/>
              </a:highlight>
            </a:endParaRPr>
          </a:p>
          <a:p>
            <a:endParaRPr lang="en-IN" sz="1600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dirty="0"/>
              <a:t>Agentic AI for Personalized Course Pathways.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D52F86-49C6-E42A-C3DF-3440A5BA37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6519" y="4865294"/>
            <a:ext cx="1055521" cy="10639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Statement : Agentic AI for Personalized Course Pathways (</a:t>
            </a:r>
            <a:r>
              <a:rPr lang="en-IN" b="1" dirty="0" err="1"/>
              <a:t>LearnMate</a:t>
            </a:r>
            <a:r>
              <a:rPr lang="en-IN" b="1" dirty="0"/>
              <a:t> AI)</a:t>
            </a:r>
            <a:endParaRPr lang="en-IN" dirty="0"/>
          </a:p>
          <a:p>
            <a:r>
              <a:rPr lang="en-IN" b="1" dirty="0"/>
              <a:t>The Challenge</a:t>
            </a:r>
            <a:endParaRPr lang="en-IN" dirty="0"/>
          </a:p>
          <a:p>
            <a:r>
              <a:rPr lang="en-IN" dirty="0"/>
              <a:t>Students and aspiring engineers often struggle with </a:t>
            </a:r>
            <a:r>
              <a:rPr lang="en-IN" b="1" dirty="0"/>
              <a:t>course discovery paralysis, fragmented curricula, and lack of personalized mentoring</a:t>
            </a:r>
            <a:r>
              <a:rPr lang="en-IN" dirty="0"/>
              <a:t> due to the overwhelming volume of unstructured online content. Information about engineering pathways (DSA, Distributed Systems, AI/ML) is scattered and rigid. Without </a:t>
            </a:r>
            <a:r>
              <a:rPr lang="en-IN" b="1" dirty="0"/>
              <a:t>dynamic, real-time guidance and continuous skill baselining</a:t>
            </a:r>
            <a:r>
              <a:rPr lang="en-IN" dirty="0"/>
              <a:t>, learners drop out or fail to achieve industry and MNC technical readiness. </a:t>
            </a:r>
          </a:p>
          <a:p>
            <a:r>
              <a:rPr lang="en-IN" b="1" dirty="0"/>
              <a:t>The Objective</a:t>
            </a:r>
            <a:endParaRPr lang="en-IN" dirty="0"/>
          </a:p>
          <a:p>
            <a:r>
              <a:rPr lang="en-IN" dirty="0"/>
              <a:t>Build an </a:t>
            </a:r>
            <a:r>
              <a:rPr lang="en-IN" b="1" dirty="0"/>
              <a:t>AI-powered Career &amp; Learning Pathway Orchestrator</a:t>
            </a:r>
            <a:r>
              <a:rPr lang="en-IN" dirty="0"/>
              <a:t> that delivers </a:t>
            </a:r>
            <a:r>
              <a:rPr lang="en-IN" b="1" dirty="0"/>
              <a:t>dynamic, milestone-driven technical roadmaps</a:t>
            </a:r>
            <a:r>
              <a:rPr lang="en-IN" dirty="0"/>
              <a:t> adapted to individual pacing and goals. The solution should: </a:t>
            </a:r>
          </a:p>
          <a:p>
            <a:pPr lvl="0"/>
            <a:r>
              <a:rPr lang="en-IN" b="1" dirty="0"/>
              <a:t>Personalized Course Pathways</a:t>
            </a:r>
            <a:r>
              <a:rPr lang="en-IN" dirty="0"/>
              <a:t> – Generate phased learning roadmaps tailored to target career roles (e.g., Tier-1 MNC SDE, Distributed Systems Architect, AI Engineer), background, and weekly bandwidth. </a:t>
            </a:r>
          </a:p>
          <a:p>
            <a:pPr lvl="0"/>
            <a:r>
              <a:rPr lang="en-IN" b="1" dirty="0"/>
              <a:t>Knowledge RAG &amp; </a:t>
            </a:r>
            <a:r>
              <a:rPr lang="en-IN" b="1" dirty="0" err="1"/>
              <a:t>Catalog</a:t>
            </a:r>
            <a:r>
              <a:rPr lang="en-IN" b="1" dirty="0"/>
              <a:t> Grounding</a:t>
            </a:r>
            <a:r>
              <a:rPr lang="en-IN" dirty="0"/>
              <a:t> – Ground all curricula, module dependencies, and measurable exit criteria via verified course indexes. </a:t>
            </a:r>
          </a:p>
          <a:p>
            <a:pPr lvl="0"/>
            <a:r>
              <a:rPr lang="en-IN" b="1" dirty="0"/>
              <a:t>Continuous Skill Assessment &amp; Diagnostics</a:t>
            </a:r>
            <a:r>
              <a:rPr lang="en-IN" dirty="0"/>
              <a:t> – Evaluate current proficiency using multi-tier diagnostic checks to prevent generic recommendations. </a:t>
            </a:r>
          </a:p>
          <a:p>
            <a:pPr lvl="0"/>
            <a:r>
              <a:rPr lang="en-IN" b="1" dirty="0"/>
              <a:t>Adaptive Remediation Engine</a:t>
            </a:r>
            <a:r>
              <a:rPr lang="en-IN" dirty="0"/>
              <a:t> – Dynamically adjust milestones in real time by injecting prerequisite remediation modules when learners struggle. </a:t>
            </a:r>
          </a:p>
          <a:p>
            <a:pPr lvl="0"/>
            <a:r>
              <a:rPr lang="en-IN" b="1" dirty="0"/>
              <a:t>Multi-Agent / Multi-Persona Mentorship</a:t>
            </a:r>
            <a:r>
              <a:rPr lang="en-IN" dirty="0"/>
              <a:t> –</a:t>
            </a:r>
          </a:p>
          <a:p>
            <a:pPr lvl="1"/>
            <a:r>
              <a:rPr lang="en-IN" b="1" dirty="0"/>
              <a:t>Intake &amp; Diagnostic Coach (Jeetu Bhaiya Persona)</a:t>
            </a:r>
            <a:r>
              <a:rPr lang="en-IN" dirty="0"/>
              <a:t>: Evaluates baseline skills, weekly velocity, and goal setting. </a:t>
            </a:r>
          </a:p>
          <a:p>
            <a:pPr lvl="1"/>
            <a:r>
              <a:rPr lang="en-IN" b="1" dirty="0"/>
              <a:t>Conceptual Systems Architect (Rancho Persona)</a:t>
            </a:r>
            <a:r>
              <a:rPr lang="en-IN" dirty="0"/>
              <a:t>: Guides first-principles thinking, low-level design, and system architecture. </a:t>
            </a:r>
          </a:p>
          <a:p>
            <a:pPr lvl="1"/>
            <a:r>
              <a:rPr lang="en-IN" b="1" dirty="0"/>
              <a:t>MNC Interview Readiness Evaluator (Gaitonde Persona)</a:t>
            </a:r>
            <a:r>
              <a:rPr lang="en-IN" dirty="0"/>
              <a:t>: Assesses mock interview performance and production capstones. </a:t>
            </a:r>
          </a:p>
          <a:p>
            <a:pPr lvl="1"/>
            <a:r>
              <a:rPr lang="en-IN" b="1" dirty="0"/>
              <a:t>Dynamic Remediation Specialist (Babu Rao Persona)</a:t>
            </a:r>
            <a:r>
              <a:rPr lang="en-IN" dirty="0"/>
              <a:t>: Injects emergency doubt-clearing sessions and prerequisite repair nodes. </a:t>
            </a:r>
          </a:p>
          <a:p>
            <a:pPr lvl="0"/>
            <a:r>
              <a:rPr lang="en-IN" b="1" dirty="0"/>
              <a:t>Interactive Visual Dashboard</a:t>
            </a:r>
            <a:r>
              <a:rPr lang="en-IN" dirty="0"/>
              <a:t> – Provide an adaptive timeline with live node injection, progress metrics, and direct conversational guidance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A1BF701-ABCA-4DF0-8330-B6AF71EF8E39}"/>
                  </a:ext>
                </a:extLst>
              </p:cNvPr>
              <p:cNvSpPr txBox="1"/>
              <p:nvPr/>
            </p:nvSpPr>
            <p:spPr>
              <a:xfrm>
                <a:off x="576072" y="1234440"/>
                <a:ext cx="10607040" cy="4616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Proposed Solution: Agentic AI-Powered Learning Pathway Orchestrator</a:t>
                </a:r>
                <a:endParaRPr lang="en-IN" dirty="0"/>
              </a:p>
              <a:p>
                <a:r>
                  <a:rPr lang="en-IN" dirty="0"/>
                  <a:t>The proposed solution is a </a:t>
                </a:r>
                <a:r>
                  <a:rPr lang="en-IN" b="1" dirty="0"/>
                  <a:t>multi-agent, agentic learning orchestrator built using Next.js 14, IBM watsonx.ai (Mistral 24B Instruct), and IBM Watson Orchestrate</a:t>
                </a:r>
                <a:r>
                  <a:rPr lang="en-IN" dirty="0"/>
                  <a:t> to provide personalized, real-time career guidance. The system addresses discovery fatigue, lack of structure, and curriculum stagnation through an intelligent, modular architecture. </a:t>
                </a:r>
              </a:p>
              <a:p>
                <a:r>
                  <a:rPr lang="en-IN" dirty="0"/>
                  <a:t>At its core, the solution uses an </a:t>
                </a:r>
                <a:r>
                  <a:rPr lang="en-IN" b="1" dirty="0"/>
                  <a:t>adaptive re-planning loop</a:t>
                </a:r>
                <a:r>
                  <a:rPr lang="en-IN" dirty="0"/>
                  <a:t> backed by a </a:t>
                </a:r>
                <a:r>
                  <a:rPr lang="en-IN" b="1" dirty="0"/>
                  <a:t>grounded knowledge base</a:t>
                </a:r>
                <a:r>
                  <a:rPr lang="en-IN" dirty="0"/>
                  <a:t> of engineering syllabi and industry exit rubrics. User interactions and diagnostic benchmarks feed into an enterprise model pipeline hosted on watsonx.ai, enabling dynamic timetable updates and custom remediation tracks. </a:t>
                </a:r>
              </a:p>
              <a:p>
                <a:r>
                  <a:rPr lang="en-IN" dirty="0"/>
                  <a:t>The system consists of four key execution layers:</a:t>
                </a:r>
              </a:p>
              <a:p>
                <a:pPr lvl="0"/>
                <a:r>
                  <a:rPr lang="en-IN" b="1" dirty="0"/>
                  <a:t>Intake &amp; Diagnostic Agent</a:t>
                </a:r>
                <a:r>
                  <a:rPr lang="en-IN" dirty="0"/>
                  <a:t> determines the student's baseline proficiency level (Beginner, Intermediate, Advanced) and time bandwidth through multi-step evaluations. </a:t>
                </a:r>
              </a:p>
              <a:p>
                <a:pPr lvl="0"/>
                <a:r>
                  <a:rPr lang="en-IN" b="1" dirty="0"/>
                  <a:t>Curriculum Pathway Agent</a:t>
                </a:r>
                <a:r>
                  <a:rPr lang="en-IN" dirty="0"/>
                  <a:t> structures learning trajectories into progressive phases (Foundations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Applied Mastery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Production-Scale Capstone) with quantifiable exit criteria. </a:t>
                </a:r>
              </a:p>
              <a:p>
                <a:pPr lvl="0"/>
                <a:r>
                  <a:rPr lang="en-IN" b="1" dirty="0"/>
                  <a:t>Dynamic Remediation Agent ("Bhai </a:t>
                </a:r>
                <a:r>
                  <a:rPr lang="en-IN" b="1" dirty="0" err="1"/>
                  <a:t>Samajh</a:t>
                </a:r>
                <a:r>
                  <a:rPr lang="en-IN" b="1" dirty="0"/>
                  <a:t> Nahi Aaya!" Engine)</a:t>
                </a:r>
                <a:r>
                  <a:rPr lang="en-IN" dirty="0"/>
                  <a:t> monitors learning bottlenecks and injects 3-day prerequisite repair modules to prevent drop-off. </a:t>
                </a:r>
              </a:p>
              <a:p>
                <a:pPr lvl="0"/>
                <a:r>
                  <a:rPr lang="en-IN" b="1" dirty="0"/>
                  <a:t>Multi-Persona Conversational Agent</a:t>
                </a:r>
                <a:r>
                  <a:rPr lang="en-IN" dirty="0"/>
                  <a:t> provides contextual mentorship across technical conceptual clarification, interview tactics, and study consistency. </a:t>
                </a:r>
              </a:p>
              <a:p>
                <a:r>
                  <a:rPr lang="en-IN" dirty="0"/>
                  <a:t>The solution includes an </a:t>
                </a:r>
                <a:r>
                  <a:rPr lang="en-IN" b="1" dirty="0"/>
                  <a:t>interactive dashboard</a:t>
                </a:r>
                <a:r>
                  <a:rPr lang="en-IN" dirty="0"/>
                  <a:t> (built with React 18, Tailwind CSS, and Framer Motion) that visualizes the timeline, tracks completed checkpoints, and embeds the </a:t>
                </a:r>
                <a:r>
                  <a:rPr lang="en-IN" b="1" dirty="0"/>
                  <a:t>IBM Watson Orchestrate</a:t>
                </a:r>
                <a:r>
                  <a:rPr lang="en-IN" dirty="0"/>
                  <a:t> live agent widget. </a:t>
                </a:r>
              </a:p>
              <a:p>
                <a:r>
                  <a:rPr lang="en-IN" dirty="0"/>
                  <a:t>A </a:t>
                </a:r>
                <a:r>
                  <a:rPr lang="en-IN" b="1" dirty="0"/>
                  <a:t>secure Next.js server proxy</a:t>
                </a:r>
                <a:r>
                  <a:rPr lang="en-IN" dirty="0"/>
                  <a:t> manages IAM token exchange and caching (55-minute cycle), protecting credentials while watsonx.ai handles scalable inference. Overall, this solution delivers an </a:t>
                </a:r>
                <a:r>
                  <a:rPr lang="en-IN" b="1" dirty="0"/>
                  <a:t>end-to-end intelligent career coach</a:t>
                </a:r>
                <a:r>
                  <a:rPr lang="en-IN" dirty="0"/>
                  <a:t> that turns scattered online courses into an adaptive, goal-driven pathway to technical mastery.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A1BF701-ABCA-4DF0-8330-B6AF71EF8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72" y="1234440"/>
                <a:ext cx="10607040" cy="4616648"/>
              </a:xfrm>
              <a:prstGeom prst="rect">
                <a:avLst/>
              </a:prstGeom>
              <a:blipFill>
                <a:blip r:embed="rId3"/>
                <a:stretch>
                  <a:fillRect l="-172" t="-264" b="-3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7"/>
            <a:ext cx="108936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Technology Used</a:t>
            </a:r>
          </a:p>
          <a:p>
            <a:pPr lvl="0"/>
            <a:r>
              <a:rPr lang="en-IN" b="1" dirty="0" err="1"/>
              <a:t>Langflow</a:t>
            </a:r>
            <a:r>
              <a:rPr lang="en-IN" b="1" dirty="0"/>
              <a:t> / </a:t>
            </a:r>
            <a:r>
              <a:rPr lang="en-IN" b="1" dirty="0" err="1"/>
              <a:t>watsonx</a:t>
            </a:r>
            <a:r>
              <a:rPr lang="en-IN" b="1" dirty="0"/>
              <a:t> Orchestrate platform</a:t>
            </a:r>
            <a:r>
              <a:rPr lang="en-IN" dirty="0"/>
              <a:t> – For visually designing, configuring, and orchestrating multi-agent workflows, state machines, and autonomous </a:t>
            </a:r>
            <a:r>
              <a:rPr lang="en-IN" dirty="0" err="1"/>
              <a:t>ReAct</a:t>
            </a:r>
            <a:r>
              <a:rPr lang="en-IN" dirty="0"/>
              <a:t> loops. </a:t>
            </a:r>
          </a:p>
          <a:p>
            <a:pPr lvl="0"/>
            <a:r>
              <a:rPr lang="en-IN" b="1" dirty="0"/>
              <a:t>IBM Granite / watsonx.ai Foundation Model</a:t>
            </a:r>
            <a:r>
              <a:rPr lang="en-IN" dirty="0"/>
              <a:t> – For e.g. – </a:t>
            </a:r>
            <a:r>
              <a:rPr lang="en-IN" dirty="0" err="1"/>
              <a:t>ibm</a:t>
            </a:r>
            <a:r>
              <a:rPr lang="en-IN" dirty="0"/>
              <a:t>/granite-3-2-8b-instruct / </a:t>
            </a:r>
            <a:r>
              <a:rPr lang="en-IN" dirty="0" err="1"/>
              <a:t>mistralai</a:t>
            </a:r>
            <a:r>
              <a:rPr lang="en-IN" dirty="0"/>
              <a:t>/mistral-small-3-1-24b-instruct-2503 – For natural language understanding, dynamic diagnostic evaluation, intent extraction, and personalized pathway generation. </a:t>
            </a:r>
          </a:p>
          <a:p>
            <a:pPr lvl="0"/>
            <a:r>
              <a:rPr lang="en-IN" b="1" dirty="0"/>
              <a:t>IBM Cloud (Lite Services)</a:t>
            </a:r>
            <a:r>
              <a:rPr lang="en-IN" dirty="0"/>
              <a:t> – Provides the core cloud infrastructure to deploy, host, and scale the </a:t>
            </a:r>
            <a:r>
              <a:rPr lang="en-IN" dirty="0" err="1"/>
              <a:t>LearnMate</a:t>
            </a:r>
            <a:r>
              <a:rPr lang="en-IN" dirty="0"/>
              <a:t> Agent securely. IBM Cloud enables a </a:t>
            </a:r>
            <a:r>
              <a:rPr lang="en-IN" b="1" dirty="0"/>
              <a:t>reliable, secure, and scalable environment</a:t>
            </a:r>
            <a:r>
              <a:rPr lang="en-IN" dirty="0"/>
              <a:t> with IAM token-based authentication. </a:t>
            </a:r>
          </a:p>
          <a:p>
            <a:pPr lvl="0"/>
            <a:r>
              <a:rPr lang="en-IN" b="1" dirty="0"/>
              <a:t>RAG (Retrieval-Augmented Generation)</a:t>
            </a:r>
            <a:r>
              <a:rPr lang="en-IN" dirty="0"/>
              <a:t> – RAG to </a:t>
            </a:r>
            <a:r>
              <a:rPr lang="en-IN" b="1" dirty="0"/>
              <a:t>fetch real accredited course data and syllabi first, then generate intelligent roadmaps</a:t>
            </a:r>
            <a:r>
              <a:rPr lang="en-IN" dirty="0"/>
              <a:t>, eliminating hallucinations and grounding measurable exit milestones. </a:t>
            </a:r>
          </a:p>
          <a:p>
            <a:pPr lvl="0"/>
            <a:r>
              <a:rPr lang="en-IN" b="1" dirty="0"/>
              <a:t>IBM Watsonx.ai</a:t>
            </a:r>
            <a:r>
              <a:rPr lang="en-IN" dirty="0"/>
              <a:t> – For model deployment, enterprise token caching, prompt engineering, embedding generation, and AI governance. </a:t>
            </a:r>
          </a:p>
          <a:p>
            <a:pPr lvl="0"/>
            <a:r>
              <a:rPr lang="en-IN" b="1" dirty="0"/>
              <a:t>Vector Store / Knowledge Base (Milvus / OpenSearch / Local Ingestion)</a:t>
            </a:r>
            <a:r>
              <a:rPr lang="en-IN" dirty="0"/>
              <a:t> – For semantic retrieval of modular course roadmaps, prerequisite dependency graphs, and technical interview rubrics. </a:t>
            </a:r>
          </a:p>
          <a:p>
            <a:pPr lvl="0"/>
            <a:r>
              <a:rPr lang="en-IN" b="1" dirty="0"/>
              <a:t>Next.js 14 &amp; Tailwind CSS</a:t>
            </a:r>
            <a:r>
              <a:rPr lang="en-IN" dirty="0"/>
              <a:t> – Full-stack framework with server-side proxy routes for secure API key protection and high-performance, responsive UI delivery. 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71E4-ECB5-AE06-1848-19A29EF0B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8FE55-EB5C-AA3C-97F4-A47446618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D47D8C-0FB2-21BD-C488-E6A4EE63B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76" y="859339"/>
            <a:ext cx="11511047" cy="576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437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5E68D-08CC-0F08-67A7-B64DDA0A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447B4-1E05-6BA5-4A8D-AD01DD9B8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28C5AC-271A-D942-7C82-5FF882EF3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670"/>
            <a:ext cx="12192000" cy="636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85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39C49-ABDE-6A14-D3A2-1676A8C14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98FFB-E75C-73F0-E4E1-0AEBA7474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FF119C-D9BF-25FD-FF54-0AFD7D69E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7" y="0"/>
            <a:ext cx="119799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573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4675E-F2C9-FCCD-B5E7-7C9CF1E11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9B502-7CD7-62E0-B8BB-43F0B1E7F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E28D45-15E1-5455-CC4C-C2BBCAC5C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163"/>
            <a:ext cx="12192000" cy="629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796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EE85B-1358-A8C1-C9BF-3A63B0E1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30AD8-0B49-AD23-5269-136607900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67FB9A-BD78-67F7-3B9C-E3700DE4D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481"/>
            <a:ext cx="12192000" cy="624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45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C66ED-DBBF-12CA-7F5E-813E0E7D0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622"/>
            <a:ext cx="12192000" cy="6894986"/>
            <a:chOff x="0" y="-7622"/>
            <a:chExt cx="12192000" cy="689498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3002B52-2669-1ED7-2E0F-0627FC31DF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2E9EC0D-91EA-9D35-F655-335C580AB3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770627C-B480-1145-72DC-5B59DBE04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9F81D39-93D1-019C-74DC-4710F53346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58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064EB7B-48D6-FB92-ECD9-A69ECBB742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9000"/>
          </a:blip>
          <a:srcRect r="7949" b="-1"/>
          <a:stretch>
            <a:fillRect/>
          </a:stretch>
        </p:blipFill>
        <p:spPr>
          <a:xfrm>
            <a:off x="20" y="-7624"/>
            <a:ext cx="12191981" cy="688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257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B9288E-17E3-087F-A909-DC034F2C7D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72" r="1861" b="-1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80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B86949-7ED1-C43B-B1E3-5122BB67A596}"/>
                  </a:ext>
                </a:extLst>
              </p:cNvPr>
              <p:cNvSpPr txBox="1"/>
              <p:nvPr/>
            </p:nvSpPr>
            <p:spPr>
              <a:xfrm>
                <a:off x="474822" y="863186"/>
                <a:ext cx="11107578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IN" b="1" dirty="0"/>
                  <a:t>Chat Input</a:t>
                </a:r>
                <a:r>
                  <a:rPr lang="en-IN" dirty="0"/>
                  <a:t> – Interface where learners submit their target career role, current technical background, and weekly study bandwidth. </a:t>
                </a:r>
              </a:p>
              <a:p>
                <a:pPr lvl="0"/>
                <a:r>
                  <a:rPr lang="en-IN" b="1" dirty="0"/>
                  <a:t>IBM </a:t>
                </a:r>
                <a:r>
                  <a:rPr lang="en-IN" b="1" dirty="0" err="1"/>
                  <a:t>watsonx</a:t>
                </a:r>
                <a:r>
                  <a:rPr lang="en-IN" b="1" dirty="0"/>
                  <a:t> AI Agent</a:t>
                </a:r>
                <a:r>
                  <a:rPr lang="en-IN" dirty="0"/>
                  <a:t> – Core multi-agent reasoning engine that evaluates learner diagnostic checkpoints and coordinates pathway planning logic. </a:t>
                </a:r>
              </a:p>
              <a:p>
                <a:pPr lvl="0"/>
                <a:r>
                  <a:rPr lang="en-IN" b="1" dirty="0"/>
                  <a:t>Name of IBM Granite / </a:t>
                </a:r>
                <a:r>
                  <a:rPr lang="en-IN" b="1" dirty="0" err="1"/>
                  <a:t>watsonx</a:t>
                </a:r>
                <a:r>
                  <a:rPr lang="en-IN" b="1" dirty="0"/>
                  <a:t> Model</a:t>
                </a:r>
                <a:r>
                  <a:rPr lang="en-IN" dirty="0"/>
                  <a:t> – Granite-3.2-8B-Instruct (or Mistral-Small-24B-Instruct)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Fast, highly efficient instruction-following model for real-time skill assessment and curriculum synthesis. </a:t>
                </a:r>
              </a:p>
              <a:p>
                <a:pPr lvl="0"/>
                <a:r>
                  <a:rPr lang="en-IN" b="1" dirty="0"/>
                  <a:t>Chat Output</a:t>
                </a:r>
                <a:r>
                  <a:rPr lang="en-IN" dirty="0"/>
                  <a:t> – Displays AI-generated outputs such as phased roadmaps, milestone exit criteria, and contextual mentor advice. </a:t>
                </a:r>
              </a:p>
              <a:p>
                <a:pPr lvl="0"/>
                <a:r>
                  <a:rPr lang="en-IN" b="1" dirty="0"/>
                  <a:t>File Component (Knowledge Base)</a:t>
                </a:r>
                <a:r>
                  <a:rPr lang="en-IN" dirty="0"/>
                  <a:t> – Ingests and stores technical curriculum documents, course prerequisites, and exit checkpoint rubrics for RAG retrieval. </a:t>
                </a:r>
              </a:p>
              <a:p>
                <a:pPr lvl="0"/>
                <a:r>
                  <a:rPr lang="en-IN" b="1" dirty="0"/>
                  <a:t>Prompt Template Component</a:t>
                </a:r>
                <a:r>
                  <a:rPr lang="en-IN" dirty="0"/>
                  <a:t> – Structures diagnostic intake personas (Jeetu Bhaiya, Rancho, Gaitonde) and injects systemic guardrails against unrealistic hiring promises. </a:t>
                </a:r>
              </a:p>
              <a:p>
                <a:pPr lvl="0"/>
                <a:r>
                  <a:rPr lang="en-IN" b="1" dirty="0"/>
                  <a:t>Custom Logic / Python Tool Component (Adaptive Engine)</a:t>
                </a:r>
                <a:r>
                  <a:rPr lang="en-IN" dirty="0"/>
                  <a:t> – Executes branch-logic to inject 3-day prerequisite remediation nodes ("Bhai </a:t>
                </a:r>
                <a:r>
                  <a:rPr lang="en-IN" dirty="0" err="1"/>
                  <a:t>Samajh</a:t>
                </a:r>
                <a:r>
                  <a:rPr lang="en-IN" dirty="0"/>
                  <a:t> Nahi Aaya!") and recalibrate milestone timelines when difficulty is detected. </a:t>
                </a:r>
              </a:p>
              <a:p>
                <a:pPr lvl="0"/>
                <a:r>
                  <a:rPr lang="en-IN" b="1" dirty="0"/>
                  <a:t>Embeddings &amp; Vector Store Component</a:t>
                </a:r>
                <a:r>
                  <a:rPr lang="en-IN" dirty="0"/>
                  <a:t> – Converts course </a:t>
                </a:r>
                <a:r>
                  <a:rPr lang="en-IN" dirty="0" err="1"/>
                  <a:t>catalog</a:t>
                </a:r>
                <a:r>
                  <a:rPr lang="en-IN" dirty="0"/>
                  <a:t> content into embeddings and executes vector similarity searches for grounding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B86949-7ED1-C43B-B1E3-5122BB67A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22" y="863186"/>
                <a:ext cx="11107578" cy="3108543"/>
              </a:xfrm>
              <a:prstGeom prst="rect">
                <a:avLst/>
              </a:prstGeom>
              <a:blipFill>
                <a:blip r:embed="rId3"/>
                <a:stretch>
                  <a:fillRect l="-165" t="-392" r="-110" b="-9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Role of Agentic AI in </a:t>
            </a:r>
            <a:r>
              <a:rPr lang="en-IN" b="1" dirty="0" err="1"/>
              <a:t>LearnMate</a:t>
            </a:r>
            <a:endParaRPr lang="en-IN" dirty="0"/>
          </a:p>
          <a:p>
            <a:r>
              <a:rPr lang="en-IN" b="1" dirty="0"/>
              <a:t>Agentic AI</a:t>
            </a:r>
            <a:r>
              <a:rPr lang="en-IN" dirty="0"/>
              <a:t> enables </a:t>
            </a:r>
            <a:r>
              <a:rPr lang="en-IN" dirty="0" err="1"/>
              <a:t>LearnMate</a:t>
            </a:r>
            <a:r>
              <a:rPr lang="en-IN" dirty="0"/>
              <a:t> to function as an intelligent, autonomous coaching system rather than a static course </a:t>
            </a:r>
            <a:r>
              <a:rPr lang="en-IN" dirty="0" err="1"/>
              <a:t>catalog</a:t>
            </a:r>
            <a:r>
              <a:rPr lang="en-IN" dirty="0"/>
              <a:t> or simple FAQ bot. Using </a:t>
            </a:r>
            <a:r>
              <a:rPr lang="en-IN" b="1" dirty="0"/>
              <a:t>IBM watsonx.ai</a:t>
            </a:r>
            <a:r>
              <a:rPr lang="en-IN" dirty="0"/>
              <a:t> and </a:t>
            </a:r>
            <a:r>
              <a:rPr lang="en-IN" b="1" dirty="0"/>
              <a:t>IBM Granite / Mistral models</a:t>
            </a:r>
            <a:r>
              <a:rPr lang="en-IN" dirty="0"/>
              <a:t>, it coordinates multiple specialized sub-agents to deliver personalized, goal-driven career roadmaps. </a:t>
            </a:r>
          </a:p>
          <a:p>
            <a:r>
              <a:rPr lang="en-IN" dirty="0"/>
              <a:t>Each agent performs a specialized role—such as evaluating technical baseline proficiencies, retrieving grounded syllabi from vector storage, generating progressive milestone tracks, and executing dynamic timeline re-planning—while working collaboratively. This </a:t>
            </a:r>
            <a:r>
              <a:rPr lang="en-IN" b="1" dirty="0"/>
              <a:t>multi-agent approach</a:t>
            </a:r>
            <a:r>
              <a:rPr lang="en-IN" dirty="0"/>
              <a:t> replaces rigid one-size-fits-all roadmaps with flexible, modular task orchestration. </a:t>
            </a:r>
          </a:p>
          <a:p>
            <a:r>
              <a:rPr lang="en-IN" dirty="0"/>
              <a:t>Agentic AI also brings deep </a:t>
            </a:r>
            <a:r>
              <a:rPr lang="en-IN" b="1" dirty="0"/>
              <a:t>context awareness</a:t>
            </a:r>
            <a:r>
              <a:rPr lang="en-IN" dirty="0"/>
              <a:t>, continuously accounting for user constraints such as target engineering roles (MNC SDE, Distributed Systems, AI/ML), current skill levels (L1–L3), and weekly time availability to produce realistic schedules. It supports </a:t>
            </a:r>
            <a:r>
              <a:rPr lang="en-IN" b="1" dirty="0"/>
              <a:t>real-time adaptation</a:t>
            </a:r>
            <a:r>
              <a:rPr lang="en-IN" dirty="0"/>
              <a:t>, actively monitoring assessment performance and user feedback to dynamically inject 3-day prerequisite remediation tracks ("Bhai </a:t>
            </a:r>
            <a:r>
              <a:rPr lang="en-IN" dirty="0" err="1"/>
              <a:t>Samajh</a:t>
            </a:r>
            <a:r>
              <a:rPr lang="en-IN" dirty="0"/>
              <a:t> Nahi Aaya!" loop) when stagnation or concept failure occurs. </a:t>
            </a:r>
          </a:p>
          <a:p>
            <a:r>
              <a:rPr lang="en-IN" dirty="0"/>
              <a:t>Additionally, the agents communicate with each other across shared memory, enabling unified decision-making, prerequisite dependency validation, and interview-aligned capstone checks. </a:t>
            </a:r>
          </a:p>
          <a:p>
            <a:r>
              <a:rPr lang="en-IN" dirty="0"/>
              <a:t>Overall, Agentic AI transforms the platform from a passive content directory into a proactive, outcome-oriented </a:t>
            </a:r>
            <a:r>
              <a:rPr lang="en-IN" b="1" dirty="0"/>
              <a:t>smart digital career coach</a:t>
            </a:r>
            <a:r>
              <a:rPr lang="en-IN" dirty="0"/>
              <a:t> that drives students toward verifiable technical mastery and MNC interview readiness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0B2E7-0AF9-FCA7-9772-032755A3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06893-5B13-100F-5778-19A63F999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0A19CF-6187-1B12-6BB4-2796413B5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8" y="0"/>
            <a:ext cx="120110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70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E0FC9-3D0E-ACEE-BDBA-E3ACF01C7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EBDE8-CB22-AC4C-53EA-44EE0B31B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E47CC5-B6F9-7173-41A8-7E04D38B7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243"/>
            <a:ext cx="12192000" cy="662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08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7977D-9A65-C4B2-8A5F-B7BA187C6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68FAD-CF77-A92A-2D0E-D209D4838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EEB6A3-5A45-123E-D057-DC3096A2A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13" y="197840"/>
            <a:ext cx="10539373" cy="646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100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96DC-4371-5B46-A81B-537884934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F1A41-23E7-A901-AE63-E6F7DDE63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486279-9ACC-1FF5-CD7A-338A5748F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87" y="0"/>
            <a:ext cx="119474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847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585CF-7816-F30D-1F06-558DD736D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7B8F0-0E9D-88C3-2BAE-BF977226D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190B8-6EBE-2786-B5E2-7A6031932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658"/>
            <a:ext cx="12192000" cy="614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269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B082C-FEA8-2A3B-4CEA-8B0A6DE17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68D8B-F6D3-ED0A-9E40-BF461CF34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7AB44A-04BC-04D9-5D79-F8A7B04D7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4" y="0"/>
            <a:ext cx="121497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064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AB825-7C60-A83D-E456-A985A9F97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F6F30-E2C4-0BE6-BD92-79FF46DC2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E9E815-B7C6-C1B2-EA57-270EC1BEE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45" y="0"/>
            <a:ext cx="11301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647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8BD08-A176-EAB1-F146-8651B5CE3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40B99-8D2D-333A-7201-A82E1B900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579A62-12F0-129F-99B7-2B959F0EC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76" y="114012"/>
            <a:ext cx="10935648" cy="662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391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D845-37F2-5343-0EC4-815204E50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5F982-15C3-7547-E788-4725D98C8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DC42FD-C354-5C56-3123-EE851C9AB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303" y="190219"/>
            <a:ext cx="4811223" cy="647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185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AFB7E-F79F-831F-3386-7010A4B00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390FB-58DF-0775-5678-EFCFD5177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8F3C22-D5D6-D5D4-CBF2-19879C9A5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576" y="216891"/>
            <a:ext cx="4000847" cy="642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312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11,761 token are 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3BBD51-82A7-B526-2AC9-067C4E67B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639" y="1349910"/>
            <a:ext cx="9754552" cy="537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Multi-Agent Intelligence</a:t>
            </a:r>
            <a:r>
              <a:rPr lang="en-IN" dirty="0"/>
              <a:t> – Instead of a static chatbot, specialized sub-agents collaborate to baseline skills, structure phased learning tracks, and evaluate exit milestones. </a:t>
            </a:r>
          </a:p>
          <a:p>
            <a:pPr lvl="0"/>
            <a:r>
              <a:rPr lang="en-IN" b="1" dirty="0"/>
              <a:t>RAG-Based Grounding</a:t>
            </a:r>
            <a:r>
              <a:rPr lang="en-IN" dirty="0"/>
              <a:t> – Integrates vector-grounded course </a:t>
            </a:r>
            <a:r>
              <a:rPr lang="en-IN" dirty="0" err="1"/>
              <a:t>catalogs</a:t>
            </a:r>
            <a:r>
              <a:rPr lang="en-IN" dirty="0"/>
              <a:t> with model generation, eliminating generic or fabricated tutorials and ensuring verified technical prerequisites. </a:t>
            </a:r>
          </a:p>
          <a:p>
            <a:pPr lvl="0"/>
            <a:r>
              <a:rPr lang="en-IN" b="1" dirty="0"/>
              <a:t>Hyper-Personalization</a:t>
            </a:r>
            <a:r>
              <a:rPr lang="en-IN" dirty="0"/>
              <a:t> – Tailors curricula based on target career tracks (MNC SDE, Distributed Systems, AI/ML, UI/UX), current competency level, and weekly study velocity. </a:t>
            </a:r>
          </a:p>
          <a:p>
            <a:pPr lvl="0"/>
            <a:r>
              <a:rPr lang="en-IN" b="1" dirty="0"/>
              <a:t>Real-Time Adaptation Loop</a:t>
            </a:r>
            <a:r>
              <a:rPr lang="en-IN" dirty="0"/>
              <a:t> – Continuously evaluates progression and dynamically injects 3-day prerequisite remediation tracks ("Bhai </a:t>
            </a:r>
            <a:r>
              <a:rPr lang="en-IN" dirty="0" err="1"/>
              <a:t>Samajh</a:t>
            </a:r>
            <a:r>
              <a:rPr lang="en-IN" dirty="0"/>
              <a:t> Nahi Aaya!" engine) when stagnation is detected. </a:t>
            </a:r>
          </a:p>
          <a:p>
            <a:pPr lvl="0"/>
            <a:r>
              <a:rPr lang="en-IN" b="1" dirty="0"/>
              <a:t>Measurable Exit Criteria</a:t>
            </a:r>
            <a:r>
              <a:rPr lang="en-IN" dirty="0"/>
              <a:t> – Replaces passive completion with quantifiable engineering benchmarks (e.g., timed MNC mock simulations, modular system design implementations). </a:t>
            </a:r>
          </a:p>
          <a:p>
            <a:pPr lvl="0"/>
            <a:r>
              <a:rPr lang="en-IN" b="1" dirty="0"/>
              <a:t>Multi-Persona Mentorship Voice</a:t>
            </a:r>
            <a:r>
              <a:rPr lang="en-IN" dirty="0"/>
              <a:t> – Uses culturally resonant, relatable coaching personas (Jeetu Bhaiya, Rancho, Gaitonde, Babu Rao) to maximize student engagement and retention. </a:t>
            </a:r>
          </a:p>
          <a:p>
            <a:pPr lvl="0"/>
            <a:r>
              <a:rPr lang="en-IN" b="1" dirty="0"/>
              <a:t>Scalable &amp; Enterprise-Ready</a:t>
            </a:r>
            <a:r>
              <a:rPr lang="en-IN" dirty="0"/>
              <a:t> – Built on </a:t>
            </a:r>
            <a:r>
              <a:rPr lang="en-IN" b="1" dirty="0"/>
              <a:t>IBM watsonx.ai</a:t>
            </a:r>
            <a:r>
              <a:rPr lang="en-IN" dirty="0"/>
              <a:t> with secure server-side IAM token caching, ensuring reliable performance and AI governance. 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356375" y="1696488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IN" sz="2000" dirty="0" err="1">
                <a:highlight>
                  <a:srgbClr val="FFFF00"/>
                </a:highlight>
              </a:rPr>
              <a:t>Github</a:t>
            </a:r>
            <a:r>
              <a:rPr lang="en-IN" sz="2000" dirty="0">
                <a:highlight>
                  <a:srgbClr val="FFFF00"/>
                </a:highlight>
              </a:rPr>
              <a:t> link – </a:t>
            </a:r>
            <a:r>
              <a:rPr lang="en-IN" sz="2000" dirty="0">
                <a:hlinkClick r:id="rId3"/>
              </a:rPr>
              <a:t>https://github.com/Pawann30/IBM_PROJECT</a:t>
            </a:r>
            <a:endParaRPr lang="en-IN" sz="2000" dirty="0"/>
          </a:p>
          <a:p>
            <a:r>
              <a:rPr lang="en-IN" sz="2000" dirty="0">
                <a:highlight>
                  <a:srgbClr val="FFFF00"/>
                </a:highlight>
              </a:rPr>
              <a:t>Live link -  </a:t>
            </a:r>
            <a:r>
              <a:rPr lang="en-IN" sz="2000" dirty="0"/>
              <a:t>https://ibmpersonagent-gamma.vercel.app/</a:t>
            </a:r>
            <a:endParaRPr lang="en-IN" sz="2000" dirty="0">
              <a:highlight>
                <a:srgbClr val="FFFF00"/>
              </a:highlight>
            </a:endParaRP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00" b="0" i="0" u="none" strike="noStrike" cap="none" dirty="0">
                <a:solidFill>
                  <a:srgbClr val="2B354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Pptx – link -  </a:t>
            </a:r>
            <a:endParaRPr lang="en-IN" sz="1800" dirty="0">
              <a:highlight>
                <a:srgbClr val="FFFF00"/>
              </a:highlight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463E0D-4FA0-7075-AEA9-9FEBF89E7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881" y="1447238"/>
            <a:ext cx="6706181" cy="26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b="1" dirty="0"/>
              <a:t>Future Scope &amp; Enhancements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1. Integration with Developer Platforms &amp; Coding Ecosystems –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system can be integrated with GitHub, </a:t>
            </a:r>
            <a:r>
              <a:rPr lang="en-IN" dirty="0" err="1"/>
              <a:t>LeetCode</a:t>
            </a:r>
            <a:r>
              <a:rPr lang="en-IN" dirty="0"/>
              <a:t>, </a:t>
            </a:r>
            <a:r>
              <a:rPr lang="en-IN" dirty="0" err="1"/>
              <a:t>HackerRank</a:t>
            </a:r>
            <a:r>
              <a:rPr lang="en-IN" dirty="0"/>
              <a:t>, and </a:t>
            </a:r>
            <a:r>
              <a:rPr lang="en-IN" dirty="0" err="1"/>
              <a:t>Codeforces</a:t>
            </a:r>
            <a:r>
              <a:rPr lang="en-IN" dirty="0"/>
              <a:t> to automatically track solved problems, commit history, code quality, and algorithm execution runtime. This will enable </a:t>
            </a:r>
            <a:r>
              <a:rPr lang="en-IN" dirty="0" err="1"/>
              <a:t>LearnMate</a:t>
            </a:r>
            <a:r>
              <a:rPr lang="en-IN" dirty="0"/>
              <a:t> to bypass manual self-reporting and dynamically adapt course roadmaps based on verified coding submissions and real-time development velocity.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2. AI-Powered Voice Mentor &amp; Multilingual </a:t>
            </a:r>
            <a:r>
              <a:rPr lang="en-IN" b="1" dirty="0" err="1"/>
              <a:t>Professtional</a:t>
            </a:r>
            <a:r>
              <a:rPr lang="en-IN" b="1" dirty="0"/>
              <a:t>  Coaching –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Enhancing the system with a voice-enabled coaching interface and native multilingual support (Hindi, Hinglish, Tamil, Telugu, and regional languages) will expand accessibility for tier-2/3 college students. Learners can conduct hands-free mock technical interviews and ask conceptual doubt-clearing questions in their natural tongue, making technical mentorship more inclusive and interactive. 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6D09B0-60E2-E585-6066-B70EE7D94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169" y="1213281"/>
            <a:ext cx="7399661" cy="570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6064C5-046F-2CB9-E229-881C05CA5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824" y="681752"/>
            <a:ext cx="7064352" cy="549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2973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4D43F6-F86F-ED7D-6B12-C906ED40A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378" y="110966"/>
            <a:ext cx="8573243" cy="659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4257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3D42CA-F925-2BF9-8A31-F91DDF87C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795" y="1353312"/>
            <a:ext cx="10036410" cy="516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9FDDD9-B0E5-D9DF-D2D8-874F503E4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087" y="335012"/>
            <a:ext cx="9525825" cy="618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9866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1782</Words>
  <Application>Microsoft Office PowerPoint</Application>
  <PresentationFormat>Widescreen</PresentationFormat>
  <Paragraphs>108</Paragraphs>
  <Slides>34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Cambria Math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PAWAN RAJ PRAJAPATI</cp:lastModifiedBy>
  <cp:revision>16</cp:revision>
  <dcterms:created xsi:type="dcterms:W3CDTF">2025-07-08T05:06:56Z</dcterms:created>
  <dcterms:modified xsi:type="dcterms:W3CDTF">2026-09-11T15:15:20Z</dcterms:modified>
</cp:coreProperties>
</file>